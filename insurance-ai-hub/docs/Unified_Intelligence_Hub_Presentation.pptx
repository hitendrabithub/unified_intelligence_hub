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7"/>
    <p:sldId id="274" r:id="rId8"/>
    <p:sldId id="275" r:id="rId9"/>
    <p:sldId id="277" r:id="rId10"/>
    <p:sldId id="262" r:id="rId11"/>
    <p:sldId id="265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9B5E8"/>
                </a:solidFill>
              </a:defRPr>
            </a:pPr>
            <a:r>
              <a:rPr lang="en-IN"/>
              <a:t>Unified Intelligence</a:t>
            </a:r>
            <a:r>
              <a:t> </a:t>
            </a:r>
            <a:r>
              <a:rPr dirty="0"/>
              <a:t>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Multi-Agent AI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8C8"/>
                </a:solidFill>
              </a:defRPr>
            </a:pPr>
            <a:r>
              <a:t>Built 100% on Snowflake Cortex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54880"/>
            <a:ext cx="2103120" cy="109728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B0B8C8"/>
                </a:solidFill>
              </a:defRPr>
            </a:pPr>
            <a:r>
              <a:t>Agents</a:t>
            </a:r>
          </a:p>
          <a:p>
            <a:pPr algn="ctr">
              <a:defRPr sz="2400" b="1">
                <a:solidFill>
                  <a:srgbClr val="29B5E8"/>
                </a:solidFill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4754880"/>
            <a:ext cx="2103120" cy="109728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B0B8C8"/>
                </a:solidFill>
              </a:defRPr>
            </a:pPr>
            <a:r>
              <a:t>Tables</a:t>
            </a:r>
          </a:p>
          <a:p>
            <a:pPr algn="ctr">
              <a:defRPr sz="2400" b="1">
                <a:solidFill>
                  <a:srgbClr val="29B5E8"/>
                </a:solidFill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4754880"/>
            <a:ext cx="2103120" cy="109728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B0B8C8"/>
                </a:solidFill>
              </a:defRPr>
            </a:pPr>
            <a:r>
              <a:t>Semantic Views</a:t>
            </a:r>
          </a:p>
          <a:p>
            <a:pPr algn="ctr">
              <a:defRPr sz="2400" b="1">
                <a:solidFill>
                  <a:srgbClr val="29B5E8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4754880"/>
            <a:ext cx="2103120" cy="109728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B0B8C8"/>
                </a:solidFill>
              </a:defRPr>
            </a:pPr>
            <a:r>
              <a:t>Dashboard Pages</a:t>
            </a:r>
          </a:p>
          <a:p>
            <a:pPr algn="ctr">
              <a:defRPr sz="2400" b="1">
                <a:solidFill>
                  <a:srgbClr val="29B5E8"/>
                </a:solidFill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8C8"/>
                </a:solidFill>
              </a:defRPr>
            </a:pPr>
            <a:r>
              <a:t>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8C8"/>
                </a:solidFill>
              </a:defRPr>
            </a:pPr>
            <a:r>
              <a:t>Insurance operations are fragmented across siloed tools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7315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  Pricing analysts use spreadsheets to compare benchmarks — no real-time competitive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80360"/>
            <a:ext cx="10515600" cy="7315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  Retention teams have separate dashboards for churn monitoring — disconnected from billing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10515600" cy="7315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  Product teams track recommendation acceptance in isolated reports — no feedback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17720"/>
            <a:ext cx="10515600" cy="7315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  Data quality issues are discovered reactively, not proactively — no root-cause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515600" cy="7315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rPr dirty="0"/>
              <a:t>  No single interface for cross-domain questions spanning pricing + churn +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800"/>
                </a:solidFill>
              </a:defRPr>
            </a:pPr>
            <a:r>
              <a:t>Result: Slow decisions, missed retention opportunities, no unified intelligence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One question. Multiple agents. One answer.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74720" cy="19202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Unified Dashboard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5 analytics pages in Streamlit-in-Snowflake</a:t>
            </a:r>
          </a:p>
          <a:p>
            <a:pPr>
              <a:spcBef>
                <a:spcPts val="600"/>
              </a:spcBef>
              <a:defRPr sz="1100">
                <a:solidFill>
                  <a:srgbClr val="B0B8C8"/>
                </a:solidFill>
              </a:defRPr>
            </a:pPr>
            <a:r>
              <a:t>No external hosting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2011680"/>
            <a:ext cx="3474720" cy="19202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Multi-Agent AI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Orchestrator routes to 4 specialized agents</a:t>
            </a:r>
          </a:p>
          <a:p>
            <a:pPr>
              <a:spcBef>
                <a:spcPts val="600"/>
              </a:spcBef>
              <a:defRPr sz="1100">
                <a:solidFill>
                  <a:srgbClr val="B0B8C8"/>
                </a:solidFill>
              </a:defRPr>
            </a:pPr>
            <a:r>
              <a:t>Cortex Agents with toolsets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2011680"/>
            <a:ext cx="3474720" cy="19202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Natural Language Q&amp;A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Text-to-SQL via semantic views</a:t>
            </a:r>
          </a:p>
          <a:p>
            <a:pPr>
              <a:spcBef>
                <a:spcPts val="600"/>
              </a:spcBef>
              <a:defRPr sz="1100">
                <a:solidFill>
                  <a:srgbClr val="B0B8C8"/>
                </a:solidFill>
              </a:defRPr>
            </a:pPr>
            <a:r>
              <a:t>Cortex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97680"/>
            <a:ext cx="3474720" cy="19202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Document Search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Vector search over policy documents</a:t>
            </a:r>
          </a:p>
          <a:p>
            <a:pPr>
              <a:spcBef>
                <a:spcPts val="600"/>
              </a:spcBef>
              <a:defRPr sz="1100">
                <a:solidFill>
                  <a:srgbClr val="B0B8C8"/>
                </a:solidFill>
              </a:defRPr>
            </a:pPr>
            <a:r>
              <a:t>Cortex Search + Arctic Embed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4297680"/>
            <a:ext cx="3474720" cy="19202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Routing Transparency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Real-time display of which agent handles query</a:t>
            </a:r>
          </a:p>
          <a:p>
            <a:pPr>
              <a:spcBef>
                <a:spcPts val="600"/>
              </a:spcBef>
              <a:defRPr sz="1100">
                <a:solidFill>
                  <a:srgbClr val="B0B8C8"/>
                </a:solidFill>
              </a:defRPr>
            </a:pPr>
            <a:r>
              <a:t>CORTEX.COMPLETE (llama3.1-8b)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297680"/>
            <a:ext cx="3474720" cy="19202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Conversational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Follow-up questions with context</a:t>
            </a:r>
          </a:p>
          <a:p>
            <a:pPr>
              <a:spcBef>
                <a:spcPts val="600"/>
              </a:spcBef>
              <a:defRPr sz="1100">
                <a:solidFill>
                  <a:srgbClr val="B0B8C8"/>
                </a:solidFill>
              </a:defRPr>
            </a:pPr>
            <a:r>
              <a:t>Message history injection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rPr dirty="0"/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1188720"/>
            <a:ext cx="5486400" cy="6400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Streamlit Dashboard (5 Pages + AI Assistant)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2103120"/>
            <a:ext cx="5486400" cy="73152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ORCHESTRATOR AGENT  |  300s / 50K tokens</a:t>
            </a:r>
          </a:p>
          <a:p>
            <a:pPr algn="ctr">
              <a:defRPr sz="1000">
                <a:solidFill>
                  <a:srgbClr val="CE93D8"/>
                </a:solidFill>
              </a:defRPr>
            </a:pPr>
            <a:r>
              <a:t>Routes queries to specialized child agents via agent toolsets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2560320" cy="1097280"/>
          </a:xfrm>
          <a:prstGeom prst="roundRect">
            <a:avLst/>
          </a:prstGeom>
          <a:solidFill>
            <a:srgbClr val="1A233B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29B5E8"/>
                </a:solidFill>
              </a:defRPr>
            </a:pPr>
            <a:r>
              <a:t>Product</a:t>
            </a:r>
            <a:br/>
            <a:r>
              <a:t>Matching</a:t>
            </a:r>
          </a:p>
          <a:p>
            <a:pPr algn="ctr">
              <a:defRPr sz="1000">
                <a:solidFill>
                  <a:srgbClr val="B0B8C8"/>
                </a:solidFill>
              </a:defRPr>
            </a:pPr>
            <a:r>
              <a:t>Cortex Analyst +</a:t>
            </a:r>
            <a:br/>
            <a:r>
              <a:t>Search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200400"/>
            <a:ext cx="2560320" cy="1097280"/>
          </a:xfrm>
          <a:prstGeom prst="roundRect">
            <a:avLst/>
          </a:prstGeom>
          <a:solidFill>
            <a:srgbClr val="1A233B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4CAF50"/>
                </a:solidFill>
              </a:defRPr>
            </a:pPr>
            <a:r>
              <a:t>Price</a:t>
            </a:r>
            <a:br/>
            <a:r>
              <a:t>Optimization</a:t>
            </a:r>
          </a:p>
          <a:p>
            <a:pPr algn="ctr">
              <a:defRPr sz="1000">
                <a:solidFill>
                  <a:srgbClr val="B0B8C8"/>
                </a:solidFill>
              </a:defRPr>
            </a:pPr>
            <a:r>
              <a:t>Cortex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200400"/>
            <a:ext cx="2560320" cy="1097280"/>
          </a:xfrm>
          <a:prstGeom prst="roundRect">
            <a:avLst/>
          </a:prstGeom>
          <a:solidFill>
            <a:srgbClr val="1A233B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9800"/>
                </a:solidFill>
              </a:defRPr>
            </a:pPr>
            <a:r>
              <a:t>Market</a:t>
            </a:r>
            <a:br/>
            <a:r>
              <a:t>Intelligence</a:t>
            </a:r>
          </a:p>
          <a:p>
            <a:pPr algn="ctr">
              <a:defRPr sz="1000">
                <a:solidFill>
                  <a:srgbClr val="B0B8C8"/>
                </a:solidFill>
              </a:defRPr>
            </a:pPr>
            <a:r>
              <a:t>Cortex Analyst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3200400"/>
            <a:ext cx="2560320" cy="1097280"/>
          </a:xfrm>
          <a:prstGeom prst="roundRect">
            <a:avLst/>
          </a:prstGeom>
          <a:solidFill>
            <a:srgbClr val="1A233B"/>
          </a:solidFill>
          <a:ln w="2540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44336"/>
                </a:solidFill>
              </a:defRPr>
            </a:pPr>
            <a:r>
              <a:t>Data</a:t>
            </a:r>
            <a:br/>
            <a:r>
              <a:t>Quality</a:t>
            </a:r>
          </a:p>
          <a:p>
            <a:pPr algn="ctr">
              <a:defRPr sz="1000">
                <a:solidFill>
                  <a:srgbClr val="B0B8C8"/>
                </a:solidFill>
              </a:defRPr>
            </a:pPr>
            <a:r>
              <a:t>Cortex Analyst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2560320" cy="7315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SV_PRODUCT</a:t>
            </a:r>
            <a:br/>
            <a:r>
              <a:t>MATCHING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4572000"/>
            <a:ext cx="2560320" cy="7315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SV_PRICE</a:t>
            </a:r>
            <a:br/>
            <a:r>
              <a:t>OPTIMIZATION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4572000"/>
            <a:ext cx="2560320" cy="7315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SV_MARKET</a:t>
            </a:r>
            <a:br/>
            <a:r>
              <a:t>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4572000"/>
            <a:ext cx="2560320" cy="7315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SV_DATA</a:t>
            </a:r>
            <a:br/>
            <a:r>
              <a:t>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77840"/>
            <a:ext cx="10515600" cy="82296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INSURANCE_AI_HUB Database</a:t>
            </a:r>
          </a:p>
          <a:p>
            <a:pPr algn="ctr">
              <a:defRPr sz="1200">
                <a:solidFill>
                  <a:srgbClr val="A5D6A7"/>
                </a:solidFill>
              </a:defRPr>
            </a:pPr>
            <a:r>
              <a:t>ANALYTICS (11 tables)  |  DATA_QUALITY (4 tables)  |  DOCUMENTS (2 tables)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rPr dirty="0"/>
              <a:t>DATA</a:t>
            </a:r>
            <a:r>
              <a:rPr lang="en-IN" dirty="0"/>
              <a:t> Model related objects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8"/>
                </a:solidFill>
              </a:defRPr>
            </a:pPr>
            <a:r>
              <a:t>3 Schemas  |  18 Tables  |  ~2,500+ Rows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937538"/>
              </p:ext>
            </p:extLst>
          </p:nvPr>
        </p:nvGraphicFramePr>
        <p:xfrm>
          <a:off x="731520" y="146304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E8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CUSTOMERS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Customer profiles with risk tier, credit score, segment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POLICIES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Insurance policies with premium, coverage, loss ratio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CLAIMS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Claims with fraud scores, friction points, resolution time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Invoices, payments, outstanding balances, late fees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Product catalog with eligibility rules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RECOMMENDATIONS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Recommendation audit trail with match scores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REC_FEEDBACK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180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Acceptance, ratings, feedback text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AT_RISK_POLICIES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Churn probability, revenue at risk, risk scores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MARKET_TRENDS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384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Time-series market indicators by region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COMPETITOR_RATES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192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Benchmark premiums by competitor, type, tier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DQ_SCORES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rPr lang="en-IN" dirty="0"/>
                        <a:t>28</a:t>
                      </a:r>
                      <a:endParaRPr dirty="0"/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Quality scores per table over time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DQ_RULES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rPr lang="en-IN" dirty="0"/>
                        <a:t>50</a:t>
                      </a:r>
                      <a:endParaRPr dirty="0"/>
                    </a:p>
                  </a:txBody>
                  <a:tcPr>
                    <a:solidFill>
                      <a:srgbClr val="151D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Rule definitions and execution results</a:t>
                      </a:r>
                    </a:p>
                  </a:txBody>
                  <a:tcPr>
                    <a:solidFill>
                      <a:srgbClr val="151D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DOCUMENT_CHUNKS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rPr dirty="0"/>
                        <a:t>Chunked text with vector embeddings</a:t>
                      </a:r>
                    </a:p>
                  </a:txBody>
                  <a:tcPr>
                    <a:solidFill>
                      <a:srgbClr val="1A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EA7FC7-F591-888D-C511-ED29416A65B8}"/>
              </a:ext>
            </a:extLst>
          </p:cNvPr>
          <p:cNvSpPr txBox="1"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29B5E8"/>
                </a:solidFill>
              </a:defRPr>
            </a:pPr>
            <a:r>
              <a:rPr lang="en-US" sz="3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END TO END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723F4A-3A26-8E42-E368-12FC21E92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5251" y="467208"/>
            <a:ext cx="7180101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13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D71E10-C9BD-C171-1850-A91C932CC5B7}"/>
              </a:ext>
            </a:extLst>
          </p:cNvPr>
          <p:cNvSpPr txBox="1"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29B5E8"/>
                </a:solidFill>
              </a:defRPr>
            </a:pP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EXECUTION WORKFLOW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9F664B-9642-581C-FAAB-D9DA7F954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981" y="467208"/>
            <a:ext cx="5686641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877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389F10-3DA8-43C7-BCA8-5E0A482A58A0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29B5E8"/>
                </a:solidFill>
              </a:defRPr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ERD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B0D252-E09B-8E52-DC89-54A922053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362" y="1966293"/>
            <a:ext cx="7011275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952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EA10AA-D37A-63A2-BD0F-8C71E2209EA3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3600" b="1">
                <a:solidFill>
                  <a:srgbClr val="29B5E8"/>
                </a:solidFill>
              </a:defRPr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EXECUTION WORKFLOW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41570F-2A06-97B5-42B3-335F7CA3A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36" y="1966293"/>
            <a:ext cx="10858927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432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t>SNOWFLAKE CORTEX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Cortex Agents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Multi-agent orchestration with agent toolsets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59" y="12801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Cortex Analyst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Text-to-SQL via 4 semantic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2801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Cortex Search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Vector search over 24 policy document chunks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CORTEX.COMPLETE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LLM classification for real-time agent routing (llama3.1-8b)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31089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DATA_AGENT_RUN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SQL function to invoke agents from Streamlit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1089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Streamlit-in-Snowflake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Native dashboard — no external servers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377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Agent Toolsets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Orchestrator inherits child agent tools natively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49377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Code Execution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Built-in Python sandbox for complex calculations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937760"/>
            <a:ext cx="3474720" cy="14630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9B5E8"/>
                </a:solidFill>
              </a:defRPr>
            </a:pPr>
            <a:r>
              <a:t>Data to Chart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</a:defRPr>
            </a:pPr>
            <a:r>
              <a:t>Agent-generated visualizations from query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t>WHAT MAKES THIS UNIQUE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74720" cy="22860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100% Snowflake-Native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No external APIs, no LangChain, no vector DBs.</a:t>
            </a:r>
            <a:br/>
            <a:r>
              <a:t>Everything runs inside Snowflake.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59" y="1188720"/>
            <a:ext cx="3474720" cy="22860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Multi-Agent Orchestration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Not a chatbot. A supervisor that reasons</a:t>
            </a:r>
            <a:br/>
            <a:r>
              <a:t>about which specialist(s) to consult.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188720"/>
            <a:ext cx="3474720" cy="22860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Routing Transparency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Users see which agent handles their query.</a:t>
            </a:r>
            <a:br/>
            <a:r>
              <a:t>Powered by LLM classification.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3474720" cy="22860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Structured + Unstructured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Same platform handles SQL analytics</a:t>
            </a:r>
            <a:br/>
            <a:r>
              <a:t>and document 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3931920"/>
            <a:ext cx="3474720" cy="22860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Semantic Views as Truth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Business logic defined once, consumed</a:t>
            </a:r>
            <a:br/>
            <a:r>
              <a:t>by all agents. No SQL hallucination.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29B5E8"/>
                </a:solidFill>
              </a:defRPr>
            </a:pPr>
            <a:r>
              <a:t>Cross-Domain Reasoning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One question can trigger 3 agents</a:t>
            </a:r>
            <a:br/>
            <a:r>
              <a:t>in sequence. Orchestrator chains results.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9B5E8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Insurance AI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8C8"/>
                </a:solidFill>
              </a:defRPr>
            </a:pPr>
            <a:r>
              <a:t>Built 100% on Snowflake Cortex  | 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1333</TotalTime>
  <Words>652</Words>
  <Application>Microsoft Office PowerPoint</Application>
  <PresentationFormat>Widescreen</PresentationFormat>
  <Paragraphs>141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Chavan, Hitendra</cp:lastModifiedBy>
  <cp:revision>10</cp:revision>
  <dcterms:created xsi:type="dcterms:W3CDTF">2013-01-27T09:14:16Z</dcterms:created>
  <dcterms:modified xsi:type="dcterms:W3CDTF">2026-09-28T12:56:46Z</dcterms:modified>
  <cp:category/>
</cp:coreProperties>
</file>
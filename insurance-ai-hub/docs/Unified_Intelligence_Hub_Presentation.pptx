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77" r:id="rId10"/>
    <p:sldId id="262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9B5E8"/>
                </a:solidFill>
              </a:defRPr>
            </a:pPr>
            <a:r>
              <a:t>INSURANCE AI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Multi-Agent AI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8"/>
                </a:solidFill>
              </a:defRPr>
            </a:pPr>
            <a:r>
              <a:t>Built 100% on Snowflake Cortex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2103120" cy="10972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B0B8C8"/>
                </a:solidFill>
              </a:defRPr>
            </a:pPr>
            <a:r>
              <a:t>Agents</a:t>
            </a:r>
          </a:p>
          <a:p>
            <a:pPr algn="ctr">
              <a:defRPr sz="2400" b="1">
                <a:solidFill>
                  <a:srgbClr val="29B5E8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4754880"/>
            <a:ext cx="2103120" cy="10972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B0B8C8"/>
                </a:solidFill>
              </a:defRPr>
            </a:pPr>
            <a:r>
              <a:t>Tables</a:t>
            </a:r>
          </a:p>
          <a:p>
            <a:pPr algn="ctr">
              <a:defRPr sz="2400" b="1">
                <a:solidFill>
                  <a:srgbClr val="29B5E8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754880"/>
            <a:ext cx="2103120" cy="10972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B0B8C8"/>
                </a:solidFill>
              </a:defRPr>
            </a:pPr>
            <a:r>
              <a:t>Semantic Views</a:t>
            </a:r>
          </a:p>
          <a:p>
            <a:pPr algn="ctr">
              <a:defRPr sz="2400" b="1">
                <a:solidFill>
                  <a:srgbClr val="29B5E8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4754880"/>
            <a:ext cx="2103120" cy="10972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B0B8C8"/>
                </a:solidFill>
              </a:defRPr>
            </a:pPr>
            <a:r>
              <a:t>Dashboard Pages</a:t>
            </a:r>
          </a:p>
          <a:p>
            <a:pPr algn="ctr">
              <a:defRPr sz="2400" b="1">
                <a:solidFill>
                  <a:srgbClr val="29B5E8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8"/>
                </a:solidFill>
              </a:defRPr>
            </a:pPr>
            <a:r>
              <a:t>Insurance operations are fragmented across siloed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  Pricing analysts use spreadsheets to compare benchmarks — no real-time competitive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10515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  Retention teams have separate dashboards for churn monitoring — disconnected from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515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  Product teams track recommendation acceptance in isolated reports — no feedback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10515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  Data quality issues are discovered reactively, not proactively — no root-cause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  No single interface for cross-domain questions spanning pricing + churn +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</a:defRPr>
            </a:pPr>
            <a:r>
              <a:t>Result: Slow decisions, missed retention opportunities, no unified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One question. Multiple agents. One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Unified Dashboard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5 analytics pages in Streamlit-in-Snowflake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No external hosting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2011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Multi-Agent AI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Orchestrator routes to 4 specialized agents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Cortex Agents with toolsets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Natural Language Q&amp;A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Text-to-SQL via semantic views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Cortex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Document Search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Vector search over policy documents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Cortex Search + Arctic Embed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4297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Routing Transparency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Real-time display of which agent handles query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CORTEX.COMPLETE (llama3.1-8b)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297680"/>
            <a:ext cx="3474720" cy="19202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Conversational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Follow-up questions with context</a:t>
            </a:r>
          </a:p>
          <a:p>
            <a:pPr>
              <a:spcBef>
                <a:spcPts val="600"/>
              </a:spcBef>
              <a:defRPr sz="1100">
                <a:solidFill>
                  <a:srgbClr val="B0B8C8"/>
                </a:solidFill>
              </a:defRPr>
            </a:pPr>
            <a:r>
              <a:t>Message history injection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rPr dirty="0"/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188720"/>
            <a:ext cx="548640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 Dashboard (5 Pages + AI Assistant)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103120"/>
            <a:ext cx="5486400" cy="7315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ORCHESTRATOR AGENT  |  300s / 50K tokens</a:t>
            </a:r>
          </a:p>
          <a:p>
            <a:pPr algn="ctr">
              <a:defRPr sz="1000">
                <a:solidFill>
                  <a:srgbClr val="CE93D8"/>
                </a:solidFill>
              </a:defRPr>
            </a:pPr>
            <a:r>
              <a:t>Routes queries to specialized child agents via agent toolsets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560320" cy="10972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9B5E8"/>
                </a:solidFill>
              </a:defRPr>
            </a:pPr>
            <a:r>
              <a:t>Product</a:t>
            </a:r>
            <a:br/>
            <a:r>
              <a:t>Matching</a:t>
            </a:r>
          </a:p>
          <a:p>
            <a:pPr algn="ctr">
              <a:defRPr sz="1000">
                <a:solidFill>
                  <a:srgbClr val="B0B8C8"/>
                </a:solidFill>
              </a:defRPr>
            </a:pPr>
            <a:r>
              <a:t>Cortex Analyst +</a:t>
            </a:r>
            <a:br/>
            <a:r>
              <a:t>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00400"/>
            <a:ext cx="2560320" cy="10972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Price</a:t>
            </a:r>
            <a:br/>
            <a:r>
              <a:t>Optimization</a:t>
            </a:r>
          </a:p>
          <a:p>
            <a:pPr algn="ctr">
              <a:defRPr sz="1000">
                <a:solidFill>
                  <a:srgbClr val="B0B8C8"/>
                </a:solidFill>
              </a:defRPr>
            </a:pPr>
            <a:r>
              <a:t>Cortex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00400"/>
            <a:ext cx="2560320" cy="10972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9800"/>
                </a:solidFill>
              </a:defRPr>
            </a:pPr>
            <a:r>
              <a:t>Market</a:t>
            </a:r>
            <a:br/>
            <a:r>
              <a:t>Intelligence</a:t>
            </a:r>
          </a:p>
          <a:p>
            <a:pPr algn="ctr">
              <a:defRPr sz="1000">
                <a:solidFill>
                  <a:srgbClr val="B0B8C8"/>
                </a:solidFill>
              </a:defRPr>
            </a:pPr>
            <a:r>
              <a:t>Cortex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200400"/>
            <a:ext cx="2560320" cy="109728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44336"/>
                </a:solidFill>
              </a:defRPr>
            </a:pPr>
            <a:r>
              <a:t>Data</a:t>
            </a:r>
            <a:br/>
            <a:r>
              <a:t>Quality</a:t>
            </a:r>
          </a:p>
          <a:p>
            <a:pPr algn="ctr">
              <a:defRPr sz="1000">
                <a:solidFill>
                  <a:srgbClr val="B0B8C8"/>
                </a:solidFill>
              </a:defRPr>
            </a:pPr>
            <a:r>
              <a:t>Cortex Analyst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256032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SV_PRODUCT</a:t>
            </a:r>
            <a:br/>
            <a:r>
              <a:t>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572000"/>
            <a:ext cx="256032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SV_PRICE</a:t>
            </a:r>
            <a:br/>
            <a:r>
              <a:t>OPTIMIZATION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572000"/>
            <a:ext cx="256032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SV_MARKET</a:t>
            </a:r>
            <a:br/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4572000"/>
            <a:ext cx="256032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SV_DATA</a:t>
            </a:r>
            <a:br/>
            <a: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51560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INSURANCE_AI_HUB Database</a:t>
            </a:r>
          </a:p>
          <a:p>
            <a:pPr algn="ctr">
              <a:defRPr sz="1200">
                <a:solidFill>
                  <a:srgbClr val="A5D6A7"/>
                </a:solidFill>
              </a:defRPr>
            </a:pPr>
            <a:r>
              <a:t>ANALYTICS (11 tables)  |  DATA_QUALITY (4 tables)  |  DOCUMENTS (2 tables)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rPr dirty="0"/>
              <a:t>DATA</a:t>
            </a:r>
            <a:r>
              <a:rPr lang="en-IN" dirty="0"/>
              <a:t> Model related objects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</a:defRPr>
            </a:pPr>
            <a:r>
              <a:t>3 Schemas  |  18 Tables  |  ~2,500+ Rows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937538"/>
              </p:ext>
            </p:extLst>
          </p:nvPr>
        </p:nvGraphicFramePr>
        <p:xfrm>
          <a:off x="731520" y="14630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Customer profiles with risk tier, credit score, segment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Insurance policies with premium, coverage, loss ratio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Claims with fraud scores, friction points, resolution time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Invoices, payments, outstanding balances, late fees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Product catalog with eligibility rules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RECOMMENDATIONS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Recommendation audit trail with match scores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REC_FEEDBACK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Acceptance, ratings, feedback text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AT_RISK_POLICIES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Churn probability, revenue at risk, risk scores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MARKET_TRENDS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Time-series market indicators by region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COMPETITOR_RATES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Benchmark premiums by competitor, type, tier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DQ_SCORES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28</a:t>
                      </a:r>
                      <a:endParaRPr dirty="0"/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 scores per table over time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DQ_RULES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50</a:t>
                      </a:r>
                      <a:endParaRPr dirty="0"/>
                    </a:p>
                  </a:txBody>
                  <a:tcPr>
                    <a:solidFill>
                      <a:srgbClr val="15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definitions and execution results</a:t>
                      </a:r>
                    </a:p>
                  </a:txBody>
                  <a:tcPr>
                    <a:solidFill>
                      <a:srgbClr val="15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DOCUMENT_CHUNKS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Chunked text with vector embeddings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A7FC7-F591-888D-C511-ED29416A65B8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B5E8"/>
                </a:solidFill>
              </a:defRPr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23F4A-3A26-8E42-E368-12FC21E9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251" y="467208"/>
            <a:ext cx="718010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1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71E10-C9BD-C171-1850-A91C932CC5B7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B5E8"/>
                </a:solidFill>
              </a:defRPr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EXECUTION WORKFLOW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F664B-9642-581C-FAAB-D9DA7F95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981" y="467208"/>
            <a:ext cx="568664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7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89F10-3DA8-43C7-BCA8-5E0A482A58A0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B5E8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ERD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B0D252-E09B-8E52-DC89-54A922053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62" y="1966293"/>
            <a:ext cx="701127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5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A10AA-D37A-63A2-BD0F-8C71E2209EA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B5E8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EXECUTION WORKFLOW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1570F-2A06-97B5-42B3-335F7CA3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6" y="1966293"/>
            <a:ext cx="1085892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3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SNOWFLAKE CORTEX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Cortex Agents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Multi-agent orchestration with agent toolsets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2801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Cortex Analyst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Text-to-SQL via 4 semantic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Cortex Search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Vector search over 24 policy document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CORTEX.COMPLETE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LLM classification for real-time agent routing (llama3.1-8b)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1089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DATA_AGENT_RUN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SQL function to invoke agents from Streamlit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1089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Streamlit-in-Snowflake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Native dashboard — no external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Agent Toolsets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Orchestrator inherits child agent tools natively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49377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Code Execution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Built-in Python sandbox for complex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937760"/>
            <a:ext cx="3474720" cy="14630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9B5E8"/>
                </a:solidFill>
              </a:defRPr>
            </a:pPr>
            <a:r>
              <a:t>Data to Chart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Agent-generated visualizations from query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WHAT MAKES THIS UNIQUE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100% Snowflake-Native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No external APIs, no LangChain, no vector DBs.</a:t>
            </a:r>
            <a:br/>
            <a:r>
              <a:t>Everything runs inside Snowflake.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1887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Multi-Agent Orchestration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Not a chatbot. A supervisor that reasons</a:t>
            </a:r>
            <a:br/>
            <a:r>
              <a:t>about which specialist(s) to consult.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Routing Transparency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Users see which agent handles their query.</a:t>
            </a:r>
            <a:br/>
            <a:r>
              <a:t>Powered by LLM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Structured + Unstructured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Same platform handles SQL analytics</a:t>
            </a:r>
            <a:br/>
            <a:r>
              <a:t>and document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Semantic Views as Truth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Business logic defined once, consumed</a:t>
            </a:r>
            <a:br/>
            <a:r>
              <a:t>by all agents. No SQL hallucination.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Cross-Domain Reasoning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</a:defRPr>
            </a:pPr>
            <a:r>
              <a:t>One question can trigger 3 agents</a:t>
            </a:r>
            <a:br/>
            <a:r>
              <a:t>in sequence. Orchestrator chains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9B5E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Insurance AI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8"/>
                </a:solidFill>
              </a:defRPr>
            </a:pPr>
            <a:r>
              <a:t>Built 100% on Snowflake Cortex  |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652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Chavan, Hitendra</cp:lastModifiedBy>
  <cp:revision>9</cp:revision>
  <dcterms:created xsi:type="dcterms:W3CDTF">2013-01-27T09:14:16Z</dcterms:created>
  <dcterms:modified xsi:type="dcterms:W3CDTF">2026-09-28T06:15:08Z</dcterms:modified>
  <cp:category/>
</cp:coreProperties>
</file>